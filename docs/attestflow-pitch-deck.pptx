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4bfd40d8b425a" /><Relationship Type="http://schemas.openxmlformats.org/officeDocument/2006/relationships/extended-properties" Target="/docProps/app.xml" Id="Refef131da50c4a9d" /><Relationship Type="http://schemas.openxmlformats.org/officeDocument/2006/relationships/officeDocument" Target="/ppt/presentation.xml" Id="R7c5c2fe0f53647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f069c1b8840f9"/>
  </p:sldMasterIdLst>
  <p:notesMasterIdLst>
    <p:notesMasterId xmlns:r="http://schemas.openxmlformats.org/officeDocument/2006/relationships" r:id="R05523acab65448ac"/>
  </p:notesMasterIdLst>
  <p:sldIdLst>
    <p:sldId xmlns:r="http://schemas.openxmlformats.org/officeDocument/2006/relationships" id="256" r:id="R990b9a99f72a43b9"/>
    <p:sldId xmlns:r="http://schemas.openxmlformats.org/officeDocument/2006/relationships" id="257" r:id="R8830897711b745d6"/>
    <p:sldId xmlns:r="http://schemas.openxmlformats.org/officeDocument/2006/relationships" id="258" r:id="Rf8c179d9d10c43d2"/>
    <p:sldId xmlns:r="http://schemas.openxmlformats.org/officeDocument/2006/relationships" id="259" r:id="R974a50debe434350"/>
    <p:sldId xmlns:r="http://schemas.openxmlformats.org/officeDocument/2006/relationships" id="260" r:id="R943586829bb04811"/>
    <p:sldId xmlns:r="http://schemas.openxmlformats.org/officeDocument/2006/relationships" id="261" r:id="R4720b09b6ec948a3"/>
    <p:sldId xmlns:r="http://schemas.openxmlformats.org/officeDocument/2006/relationships" id="262" r:id="Re9e6132f070041e3"/>
    <p:sldId xmlns:r="http://schemas.openxmlformats.org/officeDocument/2006/relationships" id="263" r:id="R836f4768ec4641ec"/>
    <p:sldId xmlns:r="http://schemas.openxmlformats.org/officeDocument/2006/relationships" id="264" r:id="R38a881dd55794e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680a660bd14900" /><Relationship Type="http://schemas.openxmlformats.org/officeDocument/2006/relationships/slideMaster" Target="/ppt/slideMasters/slideMaster1.xml" Id="R14df069c1b8840f9" /><Relationship Type="http://schemas.openxmlformats.org/officeDocument/2006/relationships/notesMaster" Target="/ppt/notesMasters/notesMaster1.xml" Id="R05523acab65448ac" /><Relationship Type="http://schemas.openxmlformats.org/officeDocument/2006/relationships/presProps" Target="/ppt/presProps.xml" Id="R3da8ed97c1f24091" /><Relationship Type="http://schemas.openxmlformats.org/officeDocument/2006/relationships/tableStyles" Target="/ppt/tableStyles.xml" Id="Rcb1a15d9cdba4af4" /><Relationship Type="http://schemas.openxmlformats.org/officeDocument/2006/relationships/slide" Target="/ppt/slides/slide1.xml" Id="R990b9a99f72a43b9" /><Relationship Type="http://schemas.openxmlformats.org/officeDocument/2006/relationships/slide" Target="/ppt/slides/slide2.xml" Id="R8830897711b745d6" /><Relationship Type="http://schemas.openxmlformats.org/officeDocument/2006/relationships/slide" Target="/ppt/slides/slide3.xml" Id="Rf8c179d9d10c43d2" /><Relationship Type="http://schemas.openxmlformats.org/officeDocument/2006/relationships/slide" Target="/ppt/slides/slide4.xml" Id="R974a50debe434350" /><Relationship Type="http://schemas.openxmlformats.org/officeDocument/2006/relationships/slide" Target="/ppt/slides/slide5.xml" Id="R943586829bb04811" /><Relationship Type="http://schemas.openxmlformats.org/officeDocument/2006/relationships/slide" Target="/ppt/slides/slide6.xml" Id="R4720b09b6ec948a3" /><Relationship Type="http://schemas.openxmlformats.org/officeDocument/2006/relationships/slide" Target="/ppt/slides/slide7.xml" Id="Re9e6132f070041e3" /><Relationship Type="http://schemas.openxmlformats.org/officeDocument/2006/relationships/slide" Target="/ppt/slides/slide8.xml" Id="R836f4768ec4641ec" /><Relationship Type="http://schemas.openxmlformats.org/officeDocument/2006/relationships/slide" Target="/ppt/slides/slide9.xml" Id="R38a881dd55794e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2e30e5cd434a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8d160a9dd44b1c" /><Relationship Type="http://schemas.openxmlformats.org/officeDocument/2006/relationships/notesMaster" Target="/ppt/notesMasters/notesMaster1.xml" Id="Rd9436e87c4b5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01262f03104f29" /><Relationship Type="http://schemas.openxmlformats.org/officeDocument/2006/relationships/notesMaster" Target="/ppt/notesMasters/notesMaster1.xml" Id="R47c2247acf444c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d05bc0ee4d4c1e" /><Relationship Type="http://schemas.openxmlformats.org/officeDocument/2006/relationships/notesMaster" Target="/ppt/notesMasters/notesMaster1.xml" Id="Rac84fb67af954e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d68482d6e241f9" /><Relationship Type="http://schemas.openxmlformats.org/officeDocument/2006/relationships/notesMaster" Target="/ppt/notesMasters/notesMaster1.xml" Id="Rb3fd1d3da34d46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c6ce13fc254a00" /><Relationship Type="http://schemas.openxmlformats.org/officeDocument/2006/relationships/notesMaster" Target="/ppt/notesMasters/notesMaster1.xml" Id="Rc7b95befbcbc4c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df600d95604ff9" /><Relationship Type="http://schemas.openxmlformats.org/officeDocument/2006/relationships/notesMaster" Target="/ppt/notesMasters/notesMaster1.xml" Id="R4208f4c346964c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af52e8c6a54f09" /><Relationship Type="http://schemas.openxmlformats.org/officeDocument/2006/relationships/notesMaster" Target="/ppt/notesMasters/notesMaster1.xml" Id="R230ac97d119b4c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31f0c5c0394b85" /><Relationship Type="http://schemas.openxmlformats.org/officeDocument/2006/relationships/notesMaster" Target="/ppt/notesMasters/notesMaster1.xml" Id="R945cb18c043445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cb93c11d9545f8" /><Relationship Type="http://schemas.openxmlformats.org/officeDocument/2006/relationships/notesMaster" Target="/ppt/notesMasters/notesMaster1.xml" Id="R2e30d8481d024d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https://github.com/ximilu0114-droid/ximilu-hackson/blob/main/evidence/live-e2e-v2.json</a:t>
            </a:r>
          </a:p>
          <a:p xmlns:a="http://schemas.openxmlformats.org/drawingml/2006/main">
            <a:r>
              <a:t>- https://github.com/ximilu0114-droid/ximilu-hackson/blob/main/scripts/verify-live-evidence.ts</a:t>
            </a:r>
          </a:p>
          <a:p xmlns:a="http://schemas.openxmlformats.org/drawingml/2006/main">
            <a:r>
              <a:t>- https://dorahacks.io/hackathon/buidl-ctc-2026-fall/detail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https://dorahacks.io/hackathon/buidl-ctc-2026-fall/detail (AI track: verified cross-chain data without centralized oracle operators)</a:t>
            </a:r>
          </a:p>
          <a:p xmlns:a="http://schemas.openxmlformats.org/drawingml/2006/main">
            <a:r>
              <a:t>- https://github.com/ximilu0114-droid/ximilu-hackson/blob/main/README.md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https://github.com/ximilu0114-droid/ximilu-hackson/blob/main/agent/src/rules.ts</a:t>
            </a:r>
          </a:p>
          <a:p xmlns:a="http://schemas.openxmlformats.org/drawingml/2006/main">
            <a:r>
              <a:t>- https://github.com/ximilu0114-droid/ximilu-hackson/blob/main/agent/src/agent.ts</a:t>
            </a:r>
          </a:p>
          <a:p xmlns:a="http://schemas.openxmlformats.org/drawingml/2006/main">
            <a:r>
              <a:t>- https://github.com/ximilu0114-droid/ximilu-hackson/blob/main/web/app/page.tsx</a:t>
            </a:r>
          </a:p>
          <a:p xmlns:a="http://schemas.openxmlformats.org/drawingml/2006/main">
            <a:r>
              <a:t>- https://github.com/ximilu0114-droid/ximilu-hackson/blob/main/evidence/demo-dashboard-state.json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https://github.com/ximilu0114-droid/ximilu-hackson/blob/main/docs/integration.md</a:t>
            </a:r>
          </a:p>
          <a:p xmlns:a="http://schemas.openxmlformats.org/drawingml/2006/main">
            <a:r>
              <a:t>- https://github.com/ximilu0114-droid/ximilu-hackson/blob/main/contracts/contracts/AttestFlowASC.sol</a:t>
            </a:r>
          </a:p>
          <a:p xmlns:a="http://schemas.openxmlformats.org/drawingml/2006/main">
            <a:r>
              <a:t>- https://docs.attestcoin.org/attestcoin-protocol/dapp-builder-infrastructure/attestcoin-sdk-usc-sdk</a:t>
            </a:r>
          </a:p>
          <a:p xmlns:a="http://schemas.openxmlformats.org/drawingml/2006/main">
            <a:r>
              <a:t>- https://creditcoin-testnet.blockscout.com/tx/0xec29d5b4046d5557c014d6720e6d3799ba0f0b41e31a71147240a09b89c2e4c2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https://github.com/ximilu0114-droid/ximilu-hackson/blob/main/contracts/contracts/AttestFlowASC.sol</a:t>
            </a:r>
          </a:p>
          <a:p xmlns:a="http://schemas.openxmlformats.org/drawingml/2006/main">
            <a:r>
              <a:t>- https://github.com/ximilu0114-droid/ximilu-hackson/blob/main/contracts/test/AttestFlowASC.ts</a:t>
            </a:r>
          </a:p>
          <a:p xmlns:a="http://schemas.openxmlformats.org/drawingml/2006/main">
            <a:r>
              <a:t>- https://github.com/ximilu0114-droid/ximilu-hackson/blob/main/docs/integration.md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https://github.com/ximilu0114-droid/ximilu-hackson/blob/main/evidence/live-e2e-v2.json</a:t>
            </a:r>
          </a:p>
          <a:p xmlns:a="http://schemas.openxmlformats.org/drawingml/2006/main">
            <a:r>
              <a:t>- https://sepolia.etherscan.io/tx/0x6ac68ba923494389999206236504123521d8ecdb9463f60aa52da47d59d555e7</a:t>
            </a:r>
          </a:p>
          <a:p xmlns:a="http://schemas.openxmlformats.org/drawingml/2006/main">
            <a:r>
              <a:t>- https://creditcoin-testnet.blockscout.com/tx/0xec29d5b4046d5557c014d6720e6d3799ba0f0b41e31a71147240a09b89c2e4c2</a:t>
            </a:r>
          </a:p>
          <a:p xmlns:a="http://schemas.openxmlformats.org/drawingml/2006/main">
            <a:r>
              <a:t>- https://sepolia.etherscan.io/tx/0xc692a176f78b1541104e9e0a18f9a8404c585b15e9be2c695df3d118796947fb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https://github.com/ximilu0114-droid/ximilu-hackson/blob/main/docs/integration.md</a:t>
            </a:r>
          </a:p>
          <a:p xmlns:a="http://schemas.openxmlformats.org/drawingml/2006/main">
            <a:r>
              <a:t>- https://github.com/ximilu0114-droid/ximilu-hackson/blob/main/agent/src/agent.ts</a:t>
            </a:r>
          </a:p>
          <a:p xmlns:a="http://schemas.openxmlformats.org/drawingml/2006/main">
            <a:r>
              <a:t>- https://github.com/ximilu0114-droid/ximilu-hackson/blob/main/evidence/live-e2e-v2.json</a:t>
            </a:r>
          </a:p>
          <a:p xmlns:a="http://schemas.openxmlformats.org/drawingml/2006/main">
            <a:r>
              <a:t>- https://sepolia.etherscan.io/tx/0xc692a176f78b1541104e9e0a18f9a8404c585b15e9be2c695df3d118796947fb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https://github.com/ximilu0114-droid/ximilu-hackson/blob/main/scripts/verify-live-evidence.ts</a:t>
            </a:r>
          </a:p>
          <a:p xmlns:a="http://schemas.openxmlformats.org/drawingml/2006/main">
            <a:r>
              <a:t>- https://github.com/ximilu0114-droid/ximilu-hackson/blob/main/evidence/live-e2e-v2.json</a:t>
            </a:r>
          </a:p>
          <a:p xmlns:a="http://schemas.openxmlformats.org/drawingml/2006/main">
            <a:r>
              <a:t>- https://github.com/ximilu0114-droid/ximilu-hackson/blob/main/.github/workflows/ci.yml</a:t>
            </a:r>
          </a:p>
          <a:p xmlns:a="http://schemas.openxmlformats.org/drawingml/2006/main">
            <a:r>
              <a:t>- https://github.com/ximilu0114-droid/ximilu-hackson/blob/main/.github/workflows/codeql.yml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https://dorahacks.io/hackathon/buidl-ctc-2026-fall/detail (CEIP fast-track description)</a:t>
            </a:r>
          </a:p>
          <a:p xmlns:a="http://schemas.openxmlformats.org/drawingml/2006/main">
            <a:r>
              <a:t>- https://github.com/ximilu0114-droid/ximilu-hackson/blob/main/README.md</a:t>
            </a:r>
          </a:p>
          <a:p xmlns:a="http://schemas.openxmlformats.org/drawingml/2006/main">
            <a:r>
              <a:t>- https://github.com/ximilu0114-droid/ximilu-hackson/blob/main/docs/whitepaper.md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9276401b64c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7250f48f3f470b" /><Relationship Type="http://schemas.openxmlformats.org/officeDocument/2006/relationships/slideLayout" Target="/ppt/slideLayouts/slideLayout1.xml" Id="R86dd41de62bb4f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dd41de62bb4f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4d6da09954ae9" /><Relationship Type="http://schemas.openxmlformats.org/officeDocument/2006/relationships/image" Target="/ppt/media/image.png" Id="R8313bb92071040e4" /><Relationship Type="http://schemas.openxmlformats.org/officeDocument/2006/relationships/notesSlide" Target="/ppt/notesSlides/notesSlide1.xml" Id="R2335c6aa09c54b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08fb7dd0f4629" /><Relationship Type="http://schemas.openxmlformats.org/officeDocument/2006/relationships/notesSlide" Target="/ppt/notesSlides/notesSlide2.xml" Id="Ra73a286559c740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9a05463ee4c85" /><Relationship Type="http://schemas.openxmlformats.org/officeDocument/2006/relationships/image" Target="/ppt/media/image2.png" Id="Rb642c1b8263e4ce1" /><Relationship Type="http://schemas.openxmlformats.org/officeDocument/2006/relationships/notesSlide" Target="/ppt/notesSlides/notesSlide3.xml" Id="Rdc53afc69b5744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50d7f373c4510" /><Relationship Type="http://schemas.openxmlformats.org/officeDocument/2006/relationships/image" Target="/ppt/media/image3.png" Id="R836b20c2dfcc4592" /><Relationship Type="http://schemas.openxmlformats.org/officeDocument/2006/relationships/notesSlide" Target="/ppt/notesSlides/notesSlide4.xml" Id="R4fe21b8aab3f46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056dff0264825" /><Relationship Type="http://schemas.openxmlformats.org/officeDocument/2006/relationships/image" Target="/ppt/media/image4.png" Id="Rc8f73f6ac39746de" /><Relationship Type="http://schemas.openxmlformats.org/officeDocument/2006/relationships/notesSlide" Target="/ppt/notesSlides/notesSlide5.xml" Id="R8cbefa7ff7164e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afefe097e4b57" /><Relationship Type="http://schemas.openxmlformats.org/officeDocument/2006/relationships/notesSlide" Target="/ppt/notesSlides/notesSlide6.xml" Id="R4765f0766e4f49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af1a43c7d4fa1" /><Relationship Type="http://schemas.openxmlformats.org/officeDocument/2006/relationships/image" Target="/ppt/media/image5.png" Id="R410ac7a6e4414e0f" /><Relationship Type="http://schemas.openxmlformats.org/officeDocument/2006/relationships/notesSlide" Target="/ppt/notesSlides/notesSlide7.xml" Id="Rd811de42afe34a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293a68e684f5d" /><Relationship Type="http://schemas.openxmlformats.org/officeDocument/2006/relationships/notesSlide" Target="/ppt/notesSlides/notesSlide8.xml" Id="R5ee62992a9354e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6431b8a7944f7" /><Relationship Type="http://schemas.openxmlformats.org/officeDocument/2006/relationships/notesSlide" Target="/ppt/notesSlides/notesSlide9.xml" Id="Rfa1d274567fb47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vent">
            <a:extLst xmlns:a="http://schemas.openxmlformats.org/drawingml/2006/main">
              <a:ext uri="{FF2B5EF4-FFF2-40B4-BE49-F238E27FC236}">
                <a16:creationId xmlns:a16="http://schemas.microsoft.com/office/drawing/2014/main" id="{063993BA-EE53-4412-9C74-CD948DF4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BUIDL CTC 2026 FALL  ·  AI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5AD4DBD-962E-450C-8F68-CB37B867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AttestFlow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6E6B572-108F-4F43-A584-86BC2870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rPr>
              <a:t>Proof-gated cross-chain payments for autonomous agents</a:t>
            </a:r>
          </a:p>
        </p:txBody>
      </p:sp>
      <p:sp>
        <p:nvSpPr>
          <p:cNvPr id="4" name="rule-64-336">
            <a:extLst xmlns:a="http://schemas.openxmlformats.org/drawingml/2006/main">
              <a:ext uri="{FF2B5EF4-FFF2-40B4-BE49-F238E27FC236}">
                <a16:creationId xmlns:a16="http://schemas.microsoft.com/office/drawing/2014/main" id="{668FDC68-5FF5-4DBD-AE72-76267CC8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46128D11-7981-4826-939D-AA583ADB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Natural language for intent.</a:t>
            </a:r>
          </a:p>
          <a:p xmlns:a="http://schemas.openxmlformats.org/drawingml/2006/main">
            <a:pPr algn="l">
              <a:defRPr sz="172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Attestcoin for truth.</a:t>
            </a:r>
          </a:p>
          <a:p xmlns:a="http://schemas.openxmlformats.org/drawingml/2006/main">
            <a:pPr algn="l">
              <a:defRPr sz="172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Deterministic contracts for money.</a:t>
            </a:r>
          </a:p>
        </p:txBody>
      </p:sp>
      <p:sp>
        <p:nvSpPr>
          <p:cNvPr id="6" name="cover-proof">
            <a:extLst xmlns:a="http://schemas.openxmlformats.org/drawingml/2006/main">
              <a:ext uri="{FF2B5EF4-FFF2-40B4-BE49-F238E27FC236}">
                <a16:creationId xmlns:a16="http://schemas.microsoft.com/office/drawing/2014/main" id="{10523187-FCC7-4BD2-B094-EA5324ED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3 linked public-testnet transactions  ·  62 live checks  ·  28 automated tests</a:t>
            </a:r>
          </a:p>
        </p:txBody>
      </p:sp>
      <p:sp>
        <p:nvSpPr>
          <p:cNvPr id="7" name="judge-evidence-backing">
            <a:extLst xmlns:a="http://schemas.openxmlformats.org/drawingml/2006/main">
              <a:ext uri="{FF2B5EF4-FFF2-40B4-BE49-F238E27FC236}">
                <a16:creationId xmlns:a16="http://schemas.microsoft.com/office/drawing/2014/main" id="{CA87AEBF-E359-41FE-A72A-D2E9C760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"/>
            <a:ext cx="5600700" cy="5410200"/>
          </a:xfrm>
          <a:prstGeom xmlns:a="http://schemas.openxmlformats.org/drawingml/2006/main" prst="roundRect">
            <a:avLst>
              <a:gd name="adj" fmla="val 2113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7CEC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3bb92071040e4"/>
          <a:srcRect xmlns:a="http://schemas.openxmlformats.org/drawingml/2006/main" l="20871" t="0" r="208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552450"/>
            <a:ext cx="5524500" cy="5334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9" name="rule-64-666">
            <a:extLst xmlns:a="http://schemas.openxmlformats.org/drawingml/2006/main">
              <a:ext uri="{FF2B5EF4-FFF2-40B4-BE49-F238E27FC236}">
                <a16:creationId xmlns:a16="http://schemas.microsoft.com/office/drawing/2014/main" id="{3EDC5DF9-96B1-4A7F-AF3A-F70744CF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1">
            <a:extLst xmlns:a="http://schemas.openxmlformats.org/drawingml/2006/main">
              <a:ext uri="{FF2B5EF4-FFF2-40B4-BE49-F238E27FC236}">
                <a16:creationId xmlns:a16="http://schemas.microsoft.com/office/drawing/2014/main" id="{AAF59549-E934-4B6D-AFC4-1866530A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ATTESTFLOW  ·  BUIDL CTC 2026 FALL                                      01</a:t>
            </a:r>
          </a:p>
        </p:txBody>
      </p:sp>
    </p:spTree>
    <p:extLst>
      <p:ext uri="{BB962C8B-B14F-4D97-AF65-F5344CB8AC3E}">
        <p14:creationId xmlns:p14="http://schemas.microsoft.com/office/powerpoint/2010/main" val="1829019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The trust gap">
            <a:extLst xmlns:a="http://schemas.openxmlformats.org/drawingml/2006/main">
              <a:ext uri="{FF2B5EF4-FFF2-40B4-BE49-F238E27FC236}">
                <a16:creationId xmlns:a16="http://schemas.microsoft.com/office/drawing/2014/main" id="{C1121785-DBB8-4DD4-9DC1-F0706A78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THE TRUST GAP</a:t>
            </a:r>
          </a:p>
        </p:txBody>
      </p:sp>
      <p:sp>
        <p:nvSpPr>
          <p:cNvPr id="2" name="title-Autonomous payments have a truth problem">
            <a:extLst xmlns:a="http://schemas.openxmlformats.org/drawingml/2006/main">
              <a:ext uri="{FF2B5EF4-FFF2-40B4-BE49-F238E27FC236}">
                <a16:creationId xmlns:a16="http://schemas.microsoft.com/office/drawing/2014/main" id="{B8B39CC4-282E-4F3C-A1D4-51730F12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Autonomous payments have a truth problem</a:t>
            </a:r>
          </a:p>
        </p:txBody>
      </p:sp>
      <p:sp>
        <p:nvSpPr>
          <p:cNvPr id="3" name="problem-quote">
            <a:extLst xmlns:a="http://schemas.openxmlformats.org/drawingml/2006/main">
              <a:ext uri="{FF2B5EF4-FFF2-40B4-BE49-F238E27FC236}">
                <a16:creationId xmlns:a16="http://schemas.microsoft.com/office/drawing/2014/main" id="{DEB17375-E38C-44A2-A051-956A5174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00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An AI agent can understand a payment rule.</a:t>
            </a:r>
          </a:p>
          <a:p xmlns:a="http://schemas.openxmlformats.org/drawingml/2006/main">
            <a:pPr algn="l">
              <a:defRPr sz="24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It cannot be trusted to assert that the payment happened.</a:t>
            </a:r>
          </a:p>
        </p:txBody>
      </p:sp>
      <p:sp>
        <p:nvSpPr>
          <p:cNvPr id="4" name="rule-64-418">
            <a:extLst xmlns:a="http://schemas.openxmlformats.org/drawingml/2006/main">
              <a:ext uri="{FF2B5EF4-FFF2-40B4-BE49-F238E27FC236}">
                <a16:creationId xmlns:a16="http://schemas.microsoft.com/office/drawing/2014/main" id="{B35EC519-6994-467F-ADF6-3764F1A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00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022E6F60-E29B-4F28-9705-BDEB5F65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64B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64B39"/>
                </a:solidFill>
                <a:latin typeface="Helvetica Neue"/>
                <a:ea typeface="Helvetica Neue"/>
                <a:cs typeface="Helvetica Neue"/>
              </a:rPr>
              <a:t>The usability layer may be probabilistic. The truth and money paths must be cryptographic and deterministic.</a:t>
            </a:r>
          </a:p>
        </p:txBody>
      </p:sp>
      <p:sp>
        <p:nvSpPr>
          <p:cNvPr id="6" name="problem-right-field">
            <a:extLst xmlns:a="http://schemas.openxmlformats.org/drawingml/2006/main">
              <a:ext uri="{FF2B5EF4-FFF2-40B4-BE49-F238E27FC236}">
                <a16:creationId xmlns:a16="http://schemas.microsoft.com/office/drawing/2014/main" id="{A2E24E72-77DC-4138-B215-E9A09CB2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4343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8E467FB6-A2E0-41E3-85EC-368A120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383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C7E78CA5-0237-49B5-AB7C-3FDB8472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19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Centralized indexers</a:t>
            </a:r>
          </a:p>
        </p:txBody>
      </p:sp>
      <p:sp>
        <p:nvSpPr>
          <p:cNvPr id="9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93A0D65E-7DC2-4AFF-9844-09D80EFB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 service assertion becomes the settlement trigger.</a:t>
            </a:r>
          </a:p>
        </p:txBody>
      </p:sp>
      <p:sp>
        <p:nvSpPr>
          <p:cNvPr id="10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F3B6BE1F-B4D9-4295-8136-851746F9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137A17EC-9DF5-412F-B836-8CEE817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Bridge operators</a:t>
            </a:r>
          </a:p>
        </p:txBody>
      </p:sp>
      <p:sp>
        <p:nvSpPr>
          <p:cNvPr id="12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3565C011-C2F7-4E64-A2AA-0CEE074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052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Custody or relayer trust replaces source-chain truth.</a:t>
            </a:r>
          </a:p>
        </p:txBody>
      </p:sp>
      <p:sp>
        <p:nvSpPr>
          <p:cNvPr id="13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B94A253E-B7BE-48F3-BF7C-FD869EDD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48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03CDD9A5-7556-490A-949F-1B05242F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Unchecked LLM output</a:t>
            </a:r>
          </a:p>
        </p:txBody>
      </p:sp>
      <p:sp>
        <p:nvSpPr>
          <p:cNvPr id="15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8EBF1297-13ED-4BCD-B841-272F473E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 fluent answer can still be financially false.</a:t>
            </a:r>
          </a:p>
        </p:txBody>
      </p:sp>
      <p:sp>
        <p:nvSpPr>
          <p:cNvPr id="16" name="rule-64-666">
            <a:extLst xmlns:a="http://schemas.openxmlformats.org/drawingml/2006/main">
              <a:ext uri="{FF2B5EF4-FFF2-40B4-BE49-F238E27FC236}">
                <a16:creationId xmlns:a16="http://schemas.microsoft.com/office/drawing/2014/main" id="{ED2AFACD-DBD7-4F68-834C-97BBB570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2">
            <a:extLst xmlns:a="http://schemas.openxmlformats.org/drawingml/2006/main">
              <a:ext uri="{FF2B5EF4-FFF2-40B4-BE49-F238E27FC236}">
                <a16:creationId xmlns:a16="http://schemas.microsoft.com/office/drawing/2014/main" id="{D068A410-80F3-4334-88A3-D7CD3D87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ATTESTFLOW  ·  BUIDL CTC 2026 FALL                                      02</a:t>
            </a:r>
          </a:p>
        </p:txBody>
      </p:sp>
    </p:spTree>
    <p:extLst>
      <p:ext uri="{BB962C8B-B14F-4D97-AF65-F5344CB8AC3E}">
        <p14:creationId xmlns:p14="http://schemas.microsoft.com/office/powerpoint/2010/main" val="1507439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The product">
            <a:extLst xmlns:a="http://schemas.openxmlformats.org/drawingml/2006/main">
              <a:ext uri="{FF2B5EF4-FFF2-40B4-BE49-F238E27FC236}">
                <a16:creationId xmlns:a16="http://schemas.microsoft.com/office/drawing/2014/main" id="{CEE3C095-9FA5-4D47-A667-BD405291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2" name="title-Natural language never reaches money unchecked">
            <a:extLst xmlns:a="http://schemas.openxmlformats.org/drawingml/2006/main">
              <a:ext uri="{FF2B5EF4-FFF2-40B4-BE49-F238E27FC236}">
                <a16:creationId xmlns:a16="http://schemas.microsoft.com/office/drawing/2014/main" id="{46168D1E-8126-473D-B621-534BAB2A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Natural language never reaches money unchecked</a:t>
            </a:r>
          </a:p>
        </p:txBody>
      </p:sp>
      <p:sp>
        <p:nvSpPr>
          <p:cNvPr id="3" name="dashboard-backing">
            <a:extLst xmlns:a="http://schemas.openxmlformats.org/drawingml/2006/main">
              <a:ext uri="{FF2B5EF4-FFF2-40B4-BE49-F238E27FC236}">
                <a16:creationId xmlns:a16="http://schemas.microsoft.com/office/drawing/2014/main" id="{CE53C5C4-BFE4-4376-B0BA-19C44E06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69342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7CEC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2c1b8263e4ce1"/>
          <a:srcRect xmlns:a="http://schemas.openxmlformats.org/drawingml/2006/main" l="2907" t="0" r="29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6858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rule-842-198">
            <a:extLst xmlns:a="http://schemas.openxmlformats.org/drawingml/2006/main">
              <a:ext uri="{FF2B5EF4-FFF2-40B4-BE49-F238E27FC236}">
                <a16:creationId xmlns:a16="http://schemas.microsoft.com/office/drawing/2014/main" id="{3043F279-4B22-4697-82F5-7CCBA241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" name="product-dot-1">
            <a:extLst xmlns:a="http://schemas.openxmlformats.org/drawingml/2006/main">
              <a:ext uri="{FF2B5EF4-FFF2-40B4-BE49-F238E27FC236}">
                <a16:creationId xmlns:a16="http://schemas.microsoft.com/office/drawing/2014/main" id="{F0D06886-A431-43A4-93B5-4643D928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7907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7" name="product-number-1">
            <a:extLst xmlns:a="http://schemas.openxmlformats.org/drawingml/2006/main">
              <a:ext uri="{FF2B5EF4-FFF2-40B4-BE49-F238E27FC236}">
                <a16:creationId xmlns:a16="http://schemas.microsoft.com/office/drawing/2014/main" id="{8B2243B2-3E0B-4E60-BD83-F112865E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790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product-title-1">
            <a:extLst xmlns:a="http://schemas.openxmlformats.org/drawingml/2006/main">
              <a:ext uri="{FF2B5EF4-FFF2-40B4-BE49-F238E27FC236}">
                <a16:creationId xmlns:a16="http://schemas.microsoft.com/office/drawing/2014/main" id="{19DC3DF6-D4B3-48B8-A43D-D2DDFC6B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Intent becomes policy</a:t>
            </a:r>
          </a:p>
        </p:txBody>
      </p:sp>
      <p:sp>
        <p:nvSpPr>
          <p:cNvPr id="9" name="product-body-1">
            <a:extLst xmlns:a="http://schemas.openxmlformats.org/drawingml/2006/main">
              <a:ext uri="{FF2B5EF4-FFF2-40B4-BE49-F238E27FC236}">
                <a16:creationId xmlns:a16="http://schemas.microsoft.com/office/drawing/2014/main" id="{ED2EDF76-7775-4133-A7D7-863AC25C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Exact amount, asset, payee, payout, beneficiary and destination.</a:t>
            </a:r>
          </a:p>
        </p:txBody>
      </p:sp>
      <p:sp>
        <p:nvSpPr>
          <p:cNvPr id="10" name="product-dot-2">
            <a:extLst xmlns:a="http://schemas.openxmlformats.org/drawingml/2006/main">
              <a:ext uri="{FF2B5EF4-FFF2-40B4-BE49-F238E27FC236}">
                <a16:creationId xmlns:a16="http://schemas.microsoft.com/office/drawing/2014/main" id="{65F8FDF3-5046-4D83-BBD4-4E2C9560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432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11" name="product-number-2">
            <a:extLst xmlns:a="http://schemas.openxmlformats.org/drawingml/2006/main">
              <a:ext uri="{FF2B5EF4-FFF2-40B4-BE49-F238E27FC236}">
                <a16:creationId xmlns:a16="http://schemas.microsoft.com/office/drawing/2014/main" id="{02A8FDA4-E9B3-43A7-95EF-F7E0ADB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43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product-title-2">
            <a:extLst xmlns:a="http://schemas.openxmlformats.org/drawingml/2006/main">
              <a:ext uri="{FF2B5EF4-FFF2-40B4-BE49-F238E27FC236}">
                <a16:creationId xmlns:a16="http://schemas.microsoft.com/office/drawing/2014/main" id="{F86F996D-170E-4401-AE88-D25F0344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Only attested blocks scan</a:t>
            </a:r>
          </a:p>
        </p:txBody>
      </p:sp>
      <p:sp>
        <p:nvSpPr>
          <p:cNvPr id="13" name="product-body-2">
            <a:extLst xmlns:a="http://schemas.openxmlformats.org/drawingml/2006/main">
              <a:ext uri="{FF2B5EF4-FFF2-40B4-BE49-F238E27FC236}">
                <a16:creationId xmlns:a16="http://schemas.microsoft.com/office/drawing/2014/main" id="{7353ACDB-A0D8-4E9F-8416-CADAB63A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Discovery cannot race ahead of Creditcoin attestation.</a:t>
            </a:r>
          </a:p>
        </p:txBody>
      </p:sp>
      <p:sp>
        <p:nvSpPr>
          <p:cNvPr id="14" name="product-dot-3">
            <a:extLst xmlns:a="http://schemas.openxmlformats.org/drawingml/2006/main">
              <a:ext uri="{FF2B5EF4-FFF2-40B4-BE49-F238E27FC236}">
                <a16:creationId xmlns:a16="http://schemas.microsoft.com/office/drawing/2014/main" id="{738E3089-37CA-4962-8053-B7BCD3DE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957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15" name="product-number-3">
            <a:extLst xmlns:a="http://schemas.openxmlformats.org/drawingml/2006/main">
              <a:ext uri="{FF2B5EF4-FFF2-40B4-BE49-F238E27FC236}">
                <a16:creationId xmlns:a16="http://schemas.microsoft.com/office/drawing/2014/main" id="{75EE4349-6D24-4FD4-A97B-6B66B5D8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95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product-title-3">
            <a:extLst xmlns:a="http://schemas.openxmlformats.org/drawingml/2006/main">
              <a:ext uri="{FF2B5EF4-FFF2-40B4-BE49-F238E27FC236}">
                <a16:creationId xmlns:a16="http://schemas.microsoft.com/office/drawing/2014/main" id="{7B42019C-3A1E-4F0B-B4E2-01F6DE7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Proof gates settlement</a:t>
            </a:r>
          </a:p>
        </p:txBody>
      </p:sp>
      <p:sp>
        <p:nvSpPr>
          <p:cNvPr id="17" name="product-body-3">
            <a:extLst xmlns:a="http://schemas.openxmlformats.org/drawingml/2006/main">
              <a:ext uri="{FF2B5EF4-FFF2-40B4-BE49-F238E27FC236}">
                <a16:creationId xmlns:a16="http://schemas.microsoft.com/office/drawing/2014/main" id="{7AF73883-4A31-4D9B-86AD-547899BB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433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The ASC—not the model—decides whether funds can move.</a:t>
            </a:r>
          </a:p>
        </p:txBody>
      </p:sp>
      <p:sp>
        <p:nvSpPr>
          <p:cNvPr id="18" name="product-dot-4">
            <a:extLst xmlns:a="http://schemas.openxmlformats.org/drawingml/2006/main">
              <a:ext uri="{FF2B5EF4-FFF2-40B4-BE49-F238E27FC236}">
                <a16:creationId xmlns:a16="http://schemas.microsoft.com/office/drawing/2014/main" id="{175191CD-DD20-41B3-926E-EA98884E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482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19" name="product-number-4">
            <a:extLst xmlns:a="http://schemas.openxmlformats.org/drawingml/2006/main">
              <a:ext uri="{FF2B5EF4-FFF2-40B4-BE49-F238E27FC236}">
                <a16:creationId xmlns:a16="http://schemas.microsoft.com/office/drawing/2014/main" id="{18308660-DC3E-4E49-A0A2-66E517F4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48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product-title-4">
            <a:extLst xmlns:a="http://schemas.openxmlformats.org/drawingml/2006/main">
              <a:ext uri="{FF2B5EF4-FFF2-40B4-BE49-F238E27FC236}">
                <a16:creationId xmlns:a16="http://schemas.microsoft.com/office/drawing/2014/main" id="{6DC53EBA-BC2F-4EA8-BDF4-79D6DD9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72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The exact result returns</a:t>
            </a:r>
          </a:p>
        </p:txBody>
      </p:sp>
      <p:sp>
        <p:nvSpPr>
          <p:cNvPr id="21" name="product-body-4">
            <a:extLst xmlns:a="http://schemas.openxmlformats.org/drawingml/2006/main">
              <a:ext uri="{FF2B5EF4-FFF2-40B4-BE49-F238E27FC236}">
                <a16:creationId xmlns:a16="http://schemas.microsoft.com/office/drawing/2014/main" id="{202A8550-5620-4E2B-AE9E-3087C60B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958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Published bytes execute behind a second replay guard.</a:t>
            </a:r>
          </a:p>
        </p:txBody>
      </p:sp>
      <p:sp>
        <p:nvSpPr>
          <p:cNvPr id="22" name="product-boundary">
            <a:extLst xmlns:a="http://schemas.openxmlformats.org/drawingml/2006/main">
              <a:ext uri="{FF2B5EF4-FFF2-40B4-BE49-F238E27FC236}">
                <a16:creationId xmlns:a16="http://schemas.microsoft.com/office/drawing/2014/main" id="{893624BD-05C0-43FB-BB9A-2A097D26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816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7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rPr>
              <a:t>Optional LLM for parsing and Q&amp;A. Mandatory deterministic validation at every financial boundary.</a:t>
            </a:r>
          </a:p>
        </p:txBody>
      </p:sp>
      <p:sp>
        <p:nvSpPr>
          <p:cNvPr id="23" name="rule-64-666">
            <a:extLst xmlns:a="http://schemas.openxmlformats.org/drawingml/2006/main">
              <a:ext uri="{FF2B5EF4-FFF2-40B4-BE49-F238E27FC236}">
                <a16:creationId xmlns:a16="http://schemas.microsoft.com/office/drawing/2014/main" id="{8179BEB0-9E6E-4874-AD8A-DD944CB4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3">
            <a:extLst xmlns:a="http://schemas.openxmlformats.org/drawingml/2006/main">
              <a:ext uri="{FF2B5EF4-FFF2-40B4-BE49-F238E27FC236}">
                <a16:creationId xmlns:a16="http://schemas.microsoft.com/office/drawing/2014/main" id="{896B2FD3-B557-4279-9458-D8C5EA67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ATTESTFLOW  ·  BUIDL CTC 2026 FALL                                      03</a:t>
            </a:r>
          </a:p>
        </p:txBody>
      </p:sp>
    </p:spTree>
    <p:extLst>
      <p:ext uri="{BB962C8B-B14F-4D97-AF65-F5344CB8AC3E}">
        <p14:creationId xmlns:p14="http://schemas.microsoft.com/office/powerpoint/2010/main" val="1691689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Protocol depth">
            <a:extLst xmlns:a="http://schemas.openxmlformats.org/drawingml/2006/main">
              <a:ext uri="{FF2B5EF4-FFF2-40B4-BE49-F238E27FC236}">
                <a16:creationId xmlns:a16="http://schemas.microsoft.com/office/drawing/2014/main" id="{CEDCD50E-58C7-4D17-A649-63CDF472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PROTOCOL DEPTH</a:t>
            </a:r>
          </a:p>
        </p:txBody>
      </p:sp>
      <p:sp>
        <p:nvSpPr>
          <p:cNvPr id="2" name="title-Attestcoin is the trust root—not a logo in the stack">
            <a:extLst xmlns:a="http://schemas.openxmlformats.org/drawingml/2006/main">
              <a:ext uri="{FF2B5EF4-FFF2-40B4-BE49-F238E27FC236}">
                <a16:creationId xmlns:a16="http://schemas.microsoft.com/office/drawing/2014/main" id="{F21D4D9B-804C-4EF6-897C-19E37DD3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Attestcoin is the trust root—not a logo in the stack</a:t>
            </a:r>
          </a:p>
        </p:txBody>
      </p:sp>
      <p:sp>
        <p:nvSpPr>
          <p:cNvPr id="3" name="cc3-settlement-backing">
            <a:extLst xmlns:a="http://schemas.openxmlformats.org/drawingml/2006/main">
              <a:ext uri="{FF2B5EF4-FFF2-40B4-BE49-F238E27FC236}">
                <a16:creationId xmlns:a16="http://schemas.microsoft.com/office/drawing/2014/main" id="{A2E0ED9B-86DC-4A26-AD9E-73CC4BF8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57912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7CEC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b20c2dfcc4592"/>
          <a:srcRect xmlns:a="http://schemas.openxmlformats.org/drawingml/2006/main" l="9821" t="0" r="98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5715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integration-number-01">
            <a:extLst xmlns:a="http://schemas.openxmlformats.org/drawingml/2006/main">
              <a:ext uri="{FF2B5EF4-FFF2-40B4-BE49-F238E27FC236}">
                <a16:creationId xmlns:a16="http://schemas.microsoft.com/office/drawing/2014/main" id="{F01997F4-29DA-4537-BDAD-C68F56B1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62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integration-title-01">
            <a:extLst xmlns:a="http://schemas.openxmlformats.org/drawingml/2006/main">
              <a:ext uri="{FF2B5EF4-FFF2-40B4-BE49-F238E27FC236}">
                <a16:creationId xmlns:a16="http://schemas.microsoft.com/office/drawing/2014/main" id="{03FC513B-E0B4-4E33-ADCD-12525B97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335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ChainInfo · 0x0FD3</a:t>
            </a:r>
          </a:p>
        </p:txBody>
      </p:sp>
      <p:sp>
        <p:nvSpPr>
          <p:cNvPr id="7" name="integration-body-01">
            <a:extLst xmlns:a="http://schemas.openxmlformats.org/drawingml/2006/main">
              <a:ext uri="{FF2B5EF4-FFF2-40B4-BE49-F238E27FC236}">
                <a16:creationId xmlns:a16="http://schemas.microsoft.com/office/drawing/2014/main" id="{9046FBC6-14B7-4B68-993B-714E91C6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Sepolia chainId 11155111 must resolve to chainKey 1.</a:t>
            </a:r>
          </a:p>
        </p:txBody>
      </p:sp>
      <p:sp>
        <p:nvSpPr>
          <p:cNvPr id="8" name="integration-number-02">
            <a:extLst xmlns:a="http://schemas.openxmlformats.org/drawingml/2006/main">
              <a:ext uri="{FF2B5EF4-FFF2-40B4-BE49-F238E27FC236}">
                <a16:creationId xmlns:a16="http://schemas.microsoft.com/office/drawing/2014/main" id="{821481AE-F3AC-453C-9B34-40FBF7BA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98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integration-title-02">
            <a:extLst xmlns:a="http://schemas.openxmlformats.org/drawingml/2006/main">
              <a:ext uri="{FF2B5EF4-FFF2-40B4-BE49-F238E27FC236}">
                <a16:creationId xmlns:a16="http://schemas.microsoft.com/office/drawing/2014/main" id="{BE44B07B-1CAB-4743-90F1-B35452BE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ProofBuilder</a:t>
            </a:r>
          </a:p>
        </p:txBody>
      </p:sp>
      <p:sp>
        <p:nvSpPr>
          <p:cNvPr id="10" name="integration-body-02">
            <a:extLst xmlns:a="http://schemas.openxmlformats.org/drawingml/2006/main">
              <a:ext uri="{FF2B5EF4-FFF2-40B4-BE49-F238E27FC236}">
                <a16:creationId xmlns:a16="http://schemas.microsoft.com/office/drawing/2014/main" id="{219A0CAC-9899-4930-BA4D-9264C985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955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Builds the real Merkle and continuity proofs.</a:t>
            </a:r>
          </a:p>
        </p:txBody>
      </p:sp>
      <p:sp>
        <p:nvSpPr>
          <p:cNvPr id="11" name="integration-number-03">
            <a:extLst xmlns:a="http://schemas.openxmlformats.org/drawingml/2006/main">
              <a:ext uri="{FF2B5EF4-FFF2-40B4-BE49-F238E27FC236}">
                <a16:creationId xmlns:a16="http://schemas.microsoft.com/office/drawing/2014/main" id="{AA45E2FC-CCA9-4D8A-81EA-EB8BB0F0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57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integration-title-03">
            <a:extLst xmlns:a="http://schemas.openxmlformats.org/drawingml/2006/main">
              <a:ext uri="{FF2B5EF4-FFF2-40B4-BE49-F238E27FC236}">
                <a16:creationId xmlns:a16="http://schemas.microsoft.com/office/drawing/2014/main" id="{3782A361-6C8C-4BD9-928D-48E22863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289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BlockProver · 0x0FD2</a:t>
            </a:r>
          </a:p>
        </p:txBody>
      </p:sp>
      <p:sp>
        <p:nvSpPr>
          <p:cNvPr id="13" name="integration-body-03">
            <a:extLst xmlns:a="http://schemas.openxmlformats.org/drawingml/2006/main">
              <a:ext uri="{FF2B5EF4-FFF2-40B4-BE49-F238E27FC236}">
                <a16:creationId xmlns:a16="http://schemas.microsoft.com/office/drawing/2014/main" id="{9F8B0F4B-1244-44C0-9354-CF621D30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verify() synchronously gates CC3 state change.</a:t>
            </a:r>
          </a:p>
        </p:txBody>
      </p:sp>
      <p:sp>
        <p:nvSpPr>
          <p:cNvPr id="14" name="integration-number-04">
            <a:extLst xmlns:a="http://schemas.openxmlformats.org/drawingml/2006/main">
              <a:ext uri="{FF2B5EF4-FFF2-40B4-BE49-F238E27FC236}">
                <a16:creationId xmlns:a16="http://schemas.microsoft.com/office/drawing/2014/main" id="{2A0B245F-EAF9-4F55-A693-A00C003A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05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integration-title-04">
            <a:extLst xmlns:a="http://schemas.openxmlformats.org/drawingml/2006/main">
              <a:ext uri="{FF2B5EF4-FFF2-40B4-BE49-F238E27FC236}">
                <a16:creationId xmlns:a16="http://schemas.microsoft.com/office/drawing/2014/main" id="{9356CC56-2A54-47CD-817F-6EB20B57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calculateTxIndex()</a:t>
            </a:r>
          </a:p>
        </p:txBody>
      </p:sp>
      <p:sp>
        <p:nvSpPr>
          <p:cNvPr id="16" name="integration-body-04">
            <a:extLst xmlns:a="http://schemas.openxmlformats.org/drawingml/2006/main">
              <a:ext uri="{FF2B5EF4-FFF2-40B4-BE49-F238E27FC236}">
                <a16:creationId xmlns:a16="http://schemas.microsoft.com/office/drawing/2014/main" id="{4BBF3CC6-DE1A-4AA0-84EF-267566AD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Derives the replay identity from the Merkle path.</a:t>
            </a:r>
          </a:p>
        </p:txBody>
      </p:sp>
      <p:sp>
        <p:nvSpPr>
          <p:cNvPr id="17" name="integration-number-05">
            <a:extLst xmlns:a="http://schemas.openxmlformats.org/drawingml/2006/main">
              <a:ext uri="{FF2B5EF4-FFF2-40B4-BE49-F238E27FC236}">
                <a16:creationId xmlns:a16="http://schemas.microsoft.com/office/drawing/2014/main" id="{ED548E70-03C6-4D14-963B-78B673A4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8" name="integration-title-05">
            <a:extLst xmlns:a="http://schemas.openxmlformats.org/drawingml/2006/main">
              <a:ext uri="{FF2B5EF4-FFF2-40B4-BE49-F238E27FC236}">
                <a16:creationId xmlns:a16="http://schemas.microsoft.com/office/drawing/2014/main" id="{7E753A1F-3EE1-4A86-9DB8-951DEE18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Encoding v1</a:t>
            </a:r>
          </a:p>
        </p:txBody>
      </p:sp>
      <p:sp>
        <p:nvSpPr>
          <p:cNvPr id="19" name="integration-body-05">
            <a:extLst xmlns:a="http://schemas.openxmlformats.org/drawingml/2006/main">
              <a:ext uri="{FF2B5EF4-FFF2-40B4-BE49-F238E27FC236}">
                <a16:creationId xmlns:a16="http://schemas.microsoft.com/office/drawing/2014/main" id="{1A39B4EF-70CF-414E-8AD9-F1CF4B92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387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Exposes transaction fields and receipt status to the ASC.</a:t>
            </a:r>
          </a:p>
        </p:txBody>
      </p:sp>
      <p:sp>
        <p:nvSpPr>
          <p:cNvPr id="20" name="deployment-address">
            <a:extLst xmlns:a="http://schemas.openxmlformats.org/drawingml/2006/main">
              <a:ext uri="{FF2B5EF4-FFF2-40B4-BE49-F238E27FC236}">
                <a16:creationId xmlns:a16="http://schemas.microsoft.com/office/drawing/2014/main" id="{6DAF88C9-3455-4C28-9B0C-B297A98B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8674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4B39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64B39"/>
                </a:solidFill>
                <a:latin typeface="Menlo"/>
                <a:ea typeface="Menlo"/>
                <a:cs typeface="Menlo"/>
              </a:rPr>
              <a:t>LIVE ASC  0x4E7410Ebf41C213378E1D8aA4423323303086bF6</a:t>
            </a:r>
          </a:p>
        </p:txBody>
      </p:sp>
      <p:sp>
        <p:nvSpPr>
          <p:cNvPr id="21" name="rule-64-666">
            <a:extLst xmlns:a="http://schemas.openxmlformats.org/drawingml/2006/main">
              <a:ext uri="{FF2B5EF4-FFF2-40B4-BE49-F238E27FC236}">
                <a16:creationId xmlns:a16="http://schemas.microsoft.com/office/drawing/2014/main" id="{5EA9AF3F-2E1A-459A-BC20-1FA6A62C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4">
            <a:extLst xmlns:a="http://schemas.openxmlformats.org/drawingml/2006/main">
              <a:ext uri="{FF2B5EF4-FFF2-40B4-BE49-F238E27FC236}">
                <a16:creationId xmlns:a16="http://schemas.microsoft.com/office/drawing/2014/main" id="{8158109B-A0DE-45F5-BF1E-EA2BD9D9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ATTESTFLOW  ·  BUIDL CTC 2026 FALL                                      04</a:t>
            </a:r>
          </a:p>
        </p:txBody>
      </p:sp>
    </p:spTree>
    <p:extLst>
      <p:ext uri="{BB962C8B-B14F-4D97-AF65-F5344CB8AC3E}">
        <p14:creationId xmlns:p14="http://schemas.microsoft.com/office/powerpoint/2010/main" val="1714733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Defense in depth">
            <a:extLst xmlns:a="http://schemas.openxmlformats.org/drawingml/2006/main">
              <a:ext uri="{FF2B5EF4-FFF2-40B4-BE49-F238E27FC236}">
                <a16:creationId xmlns:a16="http://schemas.microsoft.com/office/drawing/2014/main" id="{1051AED2-FC2A-4E64-9843-0B8DFDB8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DEFENSE IN DEPTH</a:t>
            </a:r>
          </a:p>
        </p:txBody>
      </p:sp>
      <p:sp>
        <p:nvSpPr>
          <p:cNvPr id="2" name="title-The ASC closes the gaps the precompile leaves open">
            <a:extLst xmlns:a="http://schemas.openxmlformats.org/drawingml/2006/main">
              <a:ext uri="{FF2B5EF4-FFF2-40B4-BE49-F238E27FC236}">
                <a16:creationId xmlns:a16="http://schemas.microsoft.com/office/drawing/2014/main" id="{16618F18-D58E-4AFC-BF72-1A74CAA2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The ASC closes the gaps the precompile leaves open</a:t>
            </a:r>
          </a:p>
        </p:txBody>
      </p:sp>
      <p:sp>
        <p:nvSpPr>
          <p:cNvPr id="3" name="security-evidence-backing">
            <a:extLst xmlns:a="http://schemas.openxmlformats.org/drawingml/2006/main">
              <a:ext uri="{FF2B5EF4-FFF2-40B4-BE49-F238E27FC236}">
                <a16:creationId xmlns:a16="http://schemas.microsoft.com/office/drawing/2014/main" id="{6AE25B9B-EDB3-4485-B9EB-060CB62B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62674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7CEC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73f6ac39746de"/>
          <a:srcRect xmlns:a="http://schemas.openxmlformats.org/drawingml/2006/main" l="7485" t="0" r="7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6191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precompile-boundary">
            <a:extLst xmlns:a="http://schemas.openxmlformats.org/drawingml/2006/main">
              <a:ext uri="{FF2B5EF4-FFF2-40B4-BE49-F238E27FC236}">
                <a16:creationId xmlns:a16="http://schemas.microsoft.com/office/drawing/2014/main" id="{527CF891-AE40-418B-9CDD-857F3E68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4248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compile-label">
            <a:extLst xmlns:a="http://schemas.openxmlformats.org/drawingml/2006/main">
              <a:ext uri="{FF2B5EF4-FFF2-40B4-BE49-F238E27FC236}">
                <a16:creationId xmlns:a16="http://schemas.microsoft.com/office/drawing/2014/main" id="{E5EC30AF-552F-4F59-A2C1-AB24E92C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BLOCKPROVER PROVES</a:t>
            </a:r>
          </a:p>
        </p:txBody>
      </p:sp>
      <p:sp>
        <p:nvSpPr>
          <p:cNvPr id="7" name="precompile-body">
            <a:extLst xmlns:a="http://schemas.openxmlformats.org/drawingml/2006/main">
              <a:ext uri="{FF2B5EF4-FFF2-40B4-BE49-F238E27FC236}">
                <a16:creationId xmlns:a16="http://schemas.microsoft.com/office/drawing/2014/main" id="{E129C8C6-B693-43AD-B513-0A8DD679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Transaction inclusion + source-chain continuity</a:t>
            </a:r>
          </a:p>
        </p:txBody>
      </p:sp>
      <p:sp>
        <p:nvSpPr>
          <p:cNvPr id="8" name="asc-label">
            <a:extLst xmlns:a="http://schemas.openxmlformats.org/drawingml/2006/main">
              <a:ext uri="{FF2B5EF4-FFF2-40B4-BE49-F238E27FC236}">
                <a16:creationId xmlns:a16="http://schemas.microsoft.com/office/drawing/2014/main" id="{23F7626D-B27A-4D7A-AA02-942A52F7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THE ASC ALSO ENFORCES</a:t>
            </a:r>
          </a:p>
        </p:txBody>
      </p:sp>
      <p:sp>
        <p:nvSpPr>
          <p:cNvPr id="9" name="gate-check-0">
            <a:extLst xmlns:a="http://schemas.openxmlformats.org/drawingml/2006/main">
              <a:ext uri="{FF2B5EF4-FFF2-40B4-BE49-F238E27FC236}">
                <a16:creationId xmlns:a16="http://schemas.microsoft.com/office/drawing/2014/main" id="{B245D89C-FE7B-42F3-844D-3A3B41AB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242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10" name="gate-0">
            <a:extLst xmlns:a="http://schemas.openxmlformats.org/drawingml/2006/main">
              <a:ext uri="{FF2B5EF4-FFF2-40B4-BE49-F238E27FC236}">
                <a16:creationId xmlns:a16="http://schemas.microsoft.com/office/drawing/2014/main" id="{1B7E6849-8E52-4837-95FE-56B4369E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86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Proof-derived transaction index</a:t>
            </a:r>
          </a:p>
        </p:txBody>
      </p:sp>
      <p:sp>
        <p:nvSpPr>
          <p:cNvPr id="11" name="gate-check-1">
            <a:extLst xmlns:a="http://schemas.openxmlformats.org/drawingml/2006/main">
              <a:ext uri="{FF2B5EF4-FFF2-40B4-BE49-F238E27FC236}">
                <a16:creationId xmlns:a16="http://schemas.microsoft.com/office/drawing/2014/main" id="{DE3A2A11-6C90-429F-ACA7-1BFB681D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338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12" name="gate-1">
            <a:extLst xmlns:a="http://schemas.openxmlformats.org/drawingml/2006/main">
              <a:ext uri="{FF2B5EF4-FFF2-40B4-BE49-F238E27FC236}">
                <a16:creationId xmlns:a16="http://schemas.microsoft.com/office/drawing/2014/main" id="{640AB392-3EC1-4D14-9B25-5AC00758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957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Receipt status == 1</a:t>
            </a:r>
          </a:p>
        </p:txBody>
      </p:sp>
      <p:sp>
        <p:nvSpPr>
          <p:cNvPr id="13" name="gate-check-2">
            <a:extLst xmlns:a="http://schemas.openxmlformats.org/drawingml/2006/main">
              <a:ext uri="{FF2B5EF4-FFF2-40B4-BE49-F238E27FC236}">
                <a16:creationId xmlns:a16="http://schemas.microsoft.com/office/drawing/2014/main" id="{21D28936-8060-46B4-814F-682B055F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434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14" name="gate-2">
            <a:extLst xmlns:a="http://schemas.openxmlformats.org/drawingml/2006/main">
              <a:ext uri="{FF2B5EF4-FFF2-40B4-BE49-F238E27FC236}">
                <a16:creationId xmlns:a16="http://schemas.microsoft.com/office/drawing/2014/main" id="{47CBC91B-AC11-4A1B-BF1B-77D50DC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Recipient · asset · calldata · amount</a:t>
            </a:r>
          </a:p>
        </p:txBody>
      </p:sp>
      <p:sp>
        <p:nvSpPr>
          <p:cNvPr id="15" name="gate-check-3">
            <a:extLst xmlns:a="http://schemas.openxmlformats.org/drawingml/2006/main">
              <a:ext uri="{FF2B5EF4-FFF2-40B4-BE49-F238E27FC236}">
                <a16:creationId xmlns:a16="http://schemas.microsoft.com/office/drawing/2014/main" id="{46E95B20-8211-4EDE-A50A-C1789059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5297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16" name="gate-3">
            <a:extLst xmlns:a="http://schemas.openxmlformats.org/drawingml/2006/main">
              <a:ext uri="{FF2B5EF4-FFF2-40B4-BE49-F238E27FC236}">
                <a16:creationId xmlns:a16="http://schemas.microsoft.com/office/drawing/2014/main" id="{A6922E7B-E078-4870-BC2C-1807D492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14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Stored policy · beneficiary · destination</a:t>
            </a:r>
          </a:p>
        </p:txBody>
      </p:sp>
      <p:sp>
        <p:nvSpPr>
          <p:cNvPr id="17" name="gate-check-4">
            <a:extLst xmlns:a="http://schemas.openxmlformats.org/drawingml/2006/main">
              <a:ext uri="{FF2B5EF4-FFF2-40B4-BE49-F238E27FC236}">
                <a16:creationId xmlns:a16="http://schemas.microsoft.com/office/drawing/2014/main" id="{D4FD79FA-F7E1-47D6-AB0B-1C706BD9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625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18" name="gate-4">
            <a:extLst xmlns:a="http://schemas.openxmlformats.org/drawingml/2006/main">
              <a:ext uri="{FF2B5EF4-FFF2-40B4-BE49-F238E27FC236}">
                <a16:creationId xmlns:a16="http://schemas.microsoft.com/office/drawing/2014/main" id="{F314D4FB-F14C-4400-BB68-B0083C49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24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Source replay guard · escrow solvency</a:t>
            </a:r>
          </a:p>
        </p:txBody>
      </p:sp>
      <p:sp>
        <p:nvSpPr>
          <p:cNvPr id="19" name="security-takeaway">
            <a:extLst xmlns:a="http://schemas.openxmlformats.org/drawingml/2006/main">
              <a:ext uri="{FF2B5EF4-FFF2-40B4-BE49-F238E27FC236}">
                <a16:creationId xmlns:a16="http://schemas.microsoft.com/office/drawing/2014/main" id="{D866F230-0E8A-4156-9376-56E16241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15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rPr>
              <a:t>A failed source transaction—or an operator-invented replay key—cannot settle.</a:t>
            </a:r>
          </a:p>
        </p:txBody>
      </p:sp>
      <p:sp>
        <p:nvSpPr>
          <p:cNvPr id="20" name="rule-64-666">
            <a:extLst xmlns:a="http://schemas.openxmlformats.org/drawingml/2006/main">
              <a:ext uri="{FF2B5EF4-FFF2-40B4-BE49-F238E27FC236}">
                <a16:creationId xmlns:a16="http://schemas.microsoft.com/office/drawing/2014/main" id="{D81AF1DD-9C76-4904-8726-4C5FD0EB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5">
            <a:extLst xmlns:a="http://schemas.openxmlformats.org/drawingml/2006/main">
              <a:ext uri="{FF2B5EF4-FFF2-40B4-BE49-F238E27FC236}">
                <a16:creationId xmlns:a16="http://schemas.microsoft.com/office/drawing/2014/main" id="{D16F88E7-4D46-4FEB-A32A-0C4ABB9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ATTESTFLOW  ·  BUIDL CTC 2026 FALL                                      05</a:t>
            </a:r>
          </a:p>
        </p:txBody>
      </p:sp>
    </p:spTree>
    <p:extLst>
      <p:ext uri="{BB962C8B-B14F-4D97-AF65-F5344CB8AC3E}">
        <p14:creationId xmlns:p14="http://schemas.microsoft.com/office/powerpoint/2010/main" val="820723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Public testnet evidence">
            <a:extLst xmlns:a="http://schemas.openxmlformats.org/drawingml/2006/main">
              <a:ext uri="{FF2B5EF4-FFF2-40B4-BE49-F238E27FC236}">
                <a16:creationId xmlns:a16="http://schemas.microsoft.com/office/drawing/2014/main" id="{01E3EC87-B44E-42CF-BB81-99E4C57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PUBLIC TESTNET EVIDENCE</a:t>
            </a:r>
          </a:p>
        </p:txBody>
      </p:sp>
      <p:sp>
        <p:nvSpPr>
          <p:cNvPr id="2" name="title-One payment. Three linked public-testnet legs.">
            <a:extLst xmlns:a="http://schemas.openxmlformats.org/drawingml/2006/main">
              <a:ext uri="{FF2B5EF4-FFF2-40B4-BE49-F238E27FC236}">
                <a16:creationId xmlns:a16="http://schemas.microsoft.com/office/drawing/2014/main" id="{92EB35D2-36C1-4F07-99F1-6ADFCDC6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One payment. Three linked public-testnet legs.</a:t>
            </a:r>
          </a:p>
        </p:txBody>
      </p:sp>
      <p:sp>
        <p:nvSpPr>
          <p:cNvPr id="3" name="evidence-thesis">
            <a:extLst xmlns:a="http://schemas.openxmlformats.org/drawingml/2006/main">
              <a:ext uri="{FF2B5EF4-FFF2-40B4-BE49-F238E27FC236}">
                <a16:creationId xmlns:a16="http://schemas.microsoft.com/office/drawing/2014/main" id="{8DCEFF28-BA7E-413C-ACBD-2E633161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The source payment, proof-gated settlement and destination execution are public—and tied by proof-derived identity plus one payload hash.</a:t>
            </a:r>
          </a:p>
        </p:txBody>
      </p:sp>
      <p:sp>
        <p:nvSpPr>
          <p:cNvPr id="4" name="rule-112-298">
            <a:extLst xmlns:a="http://schemas.openxmlformats.org/drawingml/2006/main">
              <a:ext uri="{FF2B5EF4-FFF2-40B4-BE49-F238E27FC236}">
                <a16:creationId xmlns:a16="http://schemas.microsoft.com/office/drawing/2014/main" id="{DC02228A-B08D-4C78-B85E-4CBD16ED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941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dot-1">
            <a:extLst xmlns:a="http://schemas.openxmlformats.org/drawingml/2006/main">
              <a:ext uri="{FF2B5EF4-FFF2-40B4-BE49-F238E27FC236}">
                <a16:creationId xmlns:a16="http://schemas.microsoft.com/office/drawing/2014/main" id="{1671A2E0-92AF-4D5B-A490-890009C3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7A58"/>
          </a:solidFill>
          <a:ln xmlns:a="http://schemas.openxmlformats.org/drawingml/2006/main" w="9525">
            <a:solidFill>
              <a:srgbClr val="087A58"/>
            </a:solidFill>
            <a:prstDash val="solid"/>
          </a:ln>
        </p:spPr>
      </p:sp>
      <p:sp>
        <p:nvSpPr>
          <p:cNvPr id="6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89859E58-F186-4BE9-8DDF-79AEC349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1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1F61954E-2E30-40DA-AAEF-05B4781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ETHEREUM SEPOLIA</a:t>
            </a:r>
          </a:p>
        </p:txBody>
      </p:sp>
      <p:sp>
        <p:nvSpPr>
          <p:cNvPr id="8" name="stage-headline-1">
            <a:extLst xmlns:a="http://schemas.openxmlformats.org/drawingml/2006/main">
              <a:ext uri="{FF2B5EF4-FFF2-40B4-BE49-F238E27FC236}">
                <a16:creationId xmlns:a16="http://schemas.microsoft.com/office/drawing/2014/main" id="{24DF7DFB-64DE-42E9-BFBB-1AE0D773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0.01 ETH received</a:t>
            </a:r>
          </a:p>
        </p:txBody>
      </p:sp>
      <p:sp>
        <p:nvSpPr>
          <p:cNvPr id="9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6ED2DEB3-0B62-474D-9994-28DBE4D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Source tx</a:t>
            </a:r>
          </a:p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0x6ac68b…55e7</a:t>
            </a:r>
          </a:p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block 11,608,703 · index 69</a:t>
            </a:r>
          </a:p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receipt status = 1</a:t>
            </a:r>
          </a:p>
        </p:txBody>
      </p:sp>
      <p:sp>
        <p:nvSpPr>
          <p:cNvPr id="10" name="stage-dot-2">
            <a:extLst xmlns:a="http://schemas.openxmlformats.org/drawingml/2006/main">
              <a:ext uri="{FF2B5EF4-FFF2-40B4-BE49-F238E27FC236}">
                <a16:creationId xmlns:a16="http://schemas.microsoft.com/office/drawing/2014/main" id="{E3105091-2834-47F0-A4C4-7C522D49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64B39"/>
          </a:solidFill>
          <a:ln xmlns:a="http://schemas.openxmlformats.org/drawingml/2006/main" w="9525">
            <a:solidFill>
              <a:srgbClr val="064B39"/>
            </a:solidFill>
            <a:prstDash val="solid"/>
          </a:ln>
        </p:spPr>
      </p:sp>
      <p:sp>
        <p:nvSpPr>
          <p:cNvPr id="11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694E9F23-E119-4891-A376-4ADFBCA4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1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6BF22CF7-7363-4FF9-9B40-D69F1EFC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rPr>
              <a:t>CREDITCOIN CC3</a:t>
            </a:r>
          </a:p>
        </p:txBody>
      </p:sp>
      <p:sp>
        <p:nvSpPr>
          <p:cNvPr id="13" name="stage-headline-2">
            <a:extLst xmlns:a="http://schemas.openxmlformats.org/drawingml/2006/main">
              <a:ext uri="{FF2B5EF4-FFF2-40B4-BE49-F238E27FC236}">
                <a16:creationId xmlns:a16="http://schemas.microsoft.com/office/drawing/2014/main" id="{482DB121-7D6D-44B5-9397-BDB74F3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0.001 CTC released</a:t>
            </a:r>
          </a:p>
        </p:txBody>
      </p:sp>
      <p:sp>
        <p:nvSpPr>
          <p:cNvPr id="14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A5A77578-8B8B-4814-BAC1-5C4407E6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91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Settlement</a:t>
            </a:r>
          </a:p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0xec29d5…e4c2</a:t>
            </a:r>
          </a:p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proof + policy + escrow + replay checks</a:t>
            </a:r>
          </a:p>
        </p:txBody>
      </p:sp>
      <p:sp>
        <p:nvSpPr>
          <p:cNvPr id="15" name="stage-dot-3">
            <a:extLst xmlns:a="http://schemas.openxmlformats.org/drawingml/2006/main">
              <a:ext uri="{FF2B5EF4-FFF2-40B4-BE49-F238E27FC236}">
                <a16:creationId xmlns:a16="http://schemas.microsoft.com/office/drawing/2014/main" id="{6F34C0C0-26AA-485A-A7CB-B6C1078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6D4BC3"/>
          </a:solidFill>
          <a:ln xmlns:a="http://schemas.openxmlformats.org/drawingml/2006/main" w="9525">
            <a:solidFill>
              <a:srgbClr val="6D4BC3"/>
            </a:solidFill>
            <a:prstDash val="solid"/>
          </a:ln>
        </p:spPr>
      </p:sp>
      <p:sp>
        <p:nvSpPr>
          <p:cNvPr id="16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0CE3DD23-4FF4-4EE6-AA3C-62F64479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1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3F3EFB55-769B-4588-BE32-3B197468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62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4B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D4BC3"/>
                </a:solidFill>
                <a:latin typeface="Helvetica Neue"/>
                <a:ea typeface="Helvetica Neue"/>
                <a:cs typeface="Helvetica Neue"/>
              </a:rPr>
              <a:t>ETHEREUM SEPOLIA</a:t>
            </a:r>
          </a:p>
        </p:txBody>
      </p:sp>
      <p:sp>
        <p:nvSpPr>
          <p:cNvPr id="18" name="stage-headline-3">
            <a:extLst xmlns:a="http://schemas.openxmlformats.org/drawingml/2006/main">
              <a:ext uri="{FF2B5EF4-FFF2-40B4-BE49-F238E27FC236}">
                <a16:creationId xmlns:a16="http://schemas.microsoft.com/office/drawing/2014/main" id="{9BD8D88C-16D2-43DF-A283-E75E64E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Payload executed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4A6A68ED-3A1B-4CF9-8FD3-DE9FC23F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Destination tx</a:t>
            </a:r>
          </a:p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0xc692a1…47fb</a:t>
            </a:r>
          </a:p>
          <a:p xmlns:a="http://schemas.openxmlformats.org/drawingml/2006/main">
            <a:pPr algn="l">
              <a:def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Inbox signature + destination replay guard</a:t>
            </a:r>
          </a:p>
        </p:txBody>
      </p:sp>
      <p:sp>
        <p:nvSpPr>
          <p:cNvPr id="20" name="payload-anchor">
            <a:extLst xmlns:a="http://schemas.openxmlformats.org/drawingml/2006/main">
              <a:ext uri="{FF2B5EF4-FFF2-40B4-BE49-F238E27FC236}">
                <a16:creationId xmlns:a16="http://schemas.microsoft.com/office/drawing/2014/main" id="{26AC65D8-DEBB-44F6-AA00-6CBA468D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yload-hash">
            <a:extLst xmlns:a="http://schemas.openxmlformats.org/drawingml/2006/main">
              <a:ext uri="{FF2B5EF4-FFF2-40B4-BE49-F238E27FC236}">
                <a16:creationId xmlns:a16="http://schemas.microsoft.com/office/drawing/2014/main" id="{9DE83548-8C7A-48DA-B3B0-EE8BE49F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4B39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64B39"/>
                </a:solidFill>
                <a:latin typeface="Menlo"/>
                <a:ea typeface="Menlo"/>
                <a:cs typeface="Menlo"/>
              </a:rPr>
              <a:t>PAYLOAD HASH  0x4845f5ca486987ddb30d486e58f36ed0cebbf5e514d20783d220b06f0d523faa</a:t>
            </a:r>
          </a:p>
        </p:txBody>
      </p:sp>
      <p:sp>
        <p:nvSpPr>
          <p:cNvPr id="22" name="rule-64-666">
            <a:extLst xmlns:a="http://schemas.openxmlformats.org/drawingml/2006/main">
              <a:ext uri="{FF2B5EF4-FFF2-40B4-BE49-F238E27FC236}">
                <a16:creationId xmlns:a16="http://schemas.microsoft.com/office/drawing/2014/main" id="{241ED5AA-A1F0-4A26-838C-11FB89F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2AA5D511-F717-4358-A5F0-B9732BAC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ATTESTFLOW  ·  BUIDL CTC 2026 FALL                                      06</a:t>
            </a:r>
          </a:p>
        </p:txBody>
      </p:sp>
    </p:spTree>
    <p:extLst>
      <p:ext uri="{BB962C8B-B14F-4D97-AF65-F5344CB8AC3E}">
        <p14:creationId xmlns:p14="http://schemas.microsoft.com/office/powerpoint/2010/main" val="1312566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Two-way loop">
            <a:extLst xmlns:a="http://schemas.openxmlformats.org/drawingml/2006/main">
              <a:ext uri="{FF2B5EF4-FFF2-40B4-BE49-F238E27FC236}">
                <a16:creationId xmlns:a16="http://schemas.microsoft.com/office/drawing/2014/main" id="{BA5AB68A-C707-4B08-A9E5-085FC22A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TWO-WAY LOOP</a:t>
            </a:r>
          </a:p>
        </p:txBody>
      </p:sp>
      <p:sp>
        <p:nvSpPr>
          <p:cNvPr id="2" name="title-The return leg is honest—and crash-resumable">
            <a:extLst xmlns:a="http://schemas.openxmlformats.org/drawingml/2006/main">
              <a:ext uri="{FF2B5EF4-FFF2-40B4-BE49-F238E27FC236}">
                <a16:creationId xmlns:a16="http://schemas.microsoft.com/office/drawing/2014/main" id="{851DD1CB-3F8A-4BED-B26C-FD9D24E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The return leg is honest—and crash-resumable</a:t>
            </a:r>
          </a:p>
        </p:txBody>
      </p:sp>
      <p:sp>
        <p:nvSpPr>
          <p:cNvPr id="3" name="delivery-evidence-backing">
            <a:extLst xmlns:a="http://schemas.openxmlformats.org/drawingml/2006/main">
              <a:ext uri="{FF2B5EF4-FFF2-40B4-BE49-F238E27FC236}">
                <a16:creationId xmlns:a16="http://schemas.microsoft.com/office/drawing/2014/main" id="{B2CA8B62-6EE0-4276-85C9-08E88314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626745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7CEC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ac7a6e4414e0f"/>
          <a:srcRect xmlns:a="http://schemas.openxmlformats.org/drawingml/2006/main" l="6473" t="0" r="64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61912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BEB5502B-81D4-4411-913F-70D08F91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5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85B10"/>
                </a:solidFill>
                <a:latin typeface="Helvetica Neue"/>
                <a:ea typeface="Helvetica Neue"/>
                <a:cs typeface="Helvetica Neue"/>
              </a:rPr>
              <a:t>CURRENT TESTNET BOUNDARY</a:t>
            </a:r>
          </a:p>
        </p:txBody>
      </p:sp>
      <p:sp>
        <p:nvSpPr>
          <p:cNvPr id="6" name="boundary-panel">
            <a:extLst xmlns:a="http://schemas.openxmlformats.org/drawingml/2006/main">
              <a:ext uri="{FF2B5EF4-FFF2-40B4-BE49-F238E27FC236}">
                <a16:creationId xmlns:a16="http://schemas.microsoft.com/office/drawing/2014/main" id="{E3E589BF-0BB3-4370-8912-1329DB00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4248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45F06CFE-7961-4F33-B9A9-C114219A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3A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E3A08"/>
                </a:solidFill>
                <a:latin typeface="Helvetica Neue"/>
                <a:ea typeface="Helvetica Neue"/>
                <a:cs typeface="Helvetica Neue"/>
              </a:rPr>
              <a:t>Official Outbox/Inbox contracts are not deployed here. The adapter uses one authorized relayer—not attestor-quorum security.</a:t>
            </a:r>
          </a:p>
        </p:txBody>
      </p:sp>
      <p:sp>
        <p:nvSpPr>
          <p:cNvPr id="8" name="recovery-label">
            <a:extLst xmlns:a="http://schemas.openxmlformats.org/drawingml/2006/main">
              <a:ext uri="{FF2B5EF4-FFF2-40B4-BE49-F238E27FC236}">
                <a16:creationId xmlns:a16="http://schemas.microsoft.com/office/drawing/2014/main" id="{2FEA585F-F119-4770-9391-41A2D87E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RECOVERY EXERCISED IN THE LIVE RUN</a:t>
            </a:r>
          </a:p>
        </p:txBody>
      </p:sp>
      <p:sp>
        <p:nvSpPr>
          <p:cNvPr id="9" name="recovery-index-0">
            <a:extLst xmlns:a="http://schemas.openxmlformats.org/drawingml/2006/main">
              <a:ext uri="{FF2B5EF4-FFF2-40B4-BE49-F238E27FC236}">
                <a16:creationId xmlns:a16="http://schemas.microsoft.com/office/drawing/2014/main" id="{BE2092EF-E2BA-47FB-BED0-C0E2CA4B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recovery-item-0">
            <a:extLst xmlns:a="http://schemas.openxmlformats.org/drawingml/2006/main">
              <a:ext uri="{FF2B5EF4-FFF2-40B4-BE49-F238E27FC236}">
                <a16:creationId xmlns:a16="http://schemas.microsoft.com/office/drawing/2014/main" id="{6BE725DA-A4FB-4A6E-85E5-8C9DA553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CC3 settlement finalized</a:t>
            </a:r>
          </a:p>
        </p:txBody>
      </p:sp>
      <p:sp>
        <p:nvSpPr>
          <p:cNvPr id="11" name="recovery-index-1">
            <a:extLst xmlns:a="http://schemas.openxmlformats.org/drawingml/2006/main">
              <a:ext uri="{FF2B5EF4-FFF2-40B4-BE49-F238E27FC236}">
                <a16:creationId xmlns:a16="http://schemas.microsoft.com/office/drawing/2014/main" id="{A7F72121-C5EE-4166-894C-2DB3282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100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recovery-item-1">
            <a:extLst xmlns:a="http://schemas.openxmlformats.org/drawingml/2006/main">
              <a:ext uri="{FF2B5EF4-FFF2-40B4-BE49-F238E27FC236}">
                <a16:creationId xmlns:a16="http://schemas.microsoft.com/office/drawing/2014/main" id="{AB20D034-5A09-4191-A2C6-00BBBB28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Sepolia RPC timed out</a:t>
            </a:r>
          </a:p>
        </p:txBody>
      </p:sp>
      <p:sp>
        <p:nvSpPr>
          <p:cNvPr id="13" name="recovery-index-2">
            <a:extLst xmlns:a="http://schemas.openxmlformats.org/drawingml/2006/main">
              <a:ext uri="{FF2B5EF4-FFF2-40B4-BE49-F238E27FC236}">
                <a16:creationId xmlns:a16="http://schemas.microsoft.com/office/drawing/2014/main" id="{6DEC9E6D-AC25-4A5A-8F8B-5C16CEE4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672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recovery-item-2">
            <a:extLst xmlns:a="http://schemas.openxmlformats.org/drawingml/2006/main">
              <a:ext uri="{FF2B5EF4-FFF2-40B4-BE49-F238E27FC236}">
                <a16:creationId xmlns:a16="http://schemas.microsoft.com/office/drawing/2014/main" id="{C40DE496-6E53-4662-A84D-1ECBBD56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2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Restart recovered MessagePublished from chain logs</a:t>
            </a:r>
          </a:p>
        </p:txBody>
      </p:sp>
      <p:sp>
        <p:nvSpPr>
          <p:cNvPr id="15" name="recovery-index-3">
            <a:extLst xmlns:a="http://schemas.openxmlformats.org/drawingml/2006/main">
              <a:ext uri="{FF2B5EF4-FFF2-40B4-BE49-F238E27FC236}">
                <a16:creationId xmlns:a16="http://schemas.microsoft.com/office/drawing/2014/main" id="{AFD6C1F2-499F-4A7A-A9BB-FBBF295C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244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recovery-item-3">
            <a:extLst xmlns:a="http://schemas.openxmlformats.org/drawingml/2006/main">
              <a:ext uri="{FF2B5EF4-FFF2-40B4-BE49-F238E27FC236}">
                <a16:creationId xmlns:a16="http://schemas.microsoft.com/office/drawing/2014/main" id="{B783AE59-2B62-4890-8FB6-7EDD99D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86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Only the missing destination leg completed</a:t>
            </a:r>
          </a:p>
        </p:txBody>
      </p:sp>
      <p:sp>
        <p:nvSpPr>
          <p:cNvPr id="17" name="recovery-anchor">
            <a:extLst xmlns:a="http://schemas.openxmlformats.org/drawingml/2006/main">
              <a:ext uri="{FF2B5EF4-FFF2-40B4-BE49-F238E27FC236}">
                <a16:creationId xmlns:a16="http://schemas.microsoft.com/office/drawing/2014/main" id="{40363828-BF99-4068-AB32-7A5A25C3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76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56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64B39"/>
                </a:solidFill>
                <a:latin typeface="Helvetica Neue"/>
                <a:ea typeface="Helvetica Neue"/>
                <a:cs typeface="Helvetica Neue"/>
              </a:rPr>
              <a:t>Published payload hash = executed payload hash</a:t>
            </a:r>
          </a:p>
        </p:txBody>
      </p:sp>
      <p:sp>
        <p:nvSpPr>
          <p:cNvPr id="18" name="rule-64-666">
            <a:extLst xmlns:a="http://schemas.openxmlformats.org/drawingml/2006/main">
              <a:ext uri="{FF2B5EF4-FFF2-40B4-BE49-F238E27FC236}">
                <a16:creationId xmlns:a16="http://schemas.microsoft.com/office/drawing/2014/main" id="{C6564AD3-F625-4C62-B1BF-77093D0A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7">
            <a:extLst xmlns:a="http://schemas.openxmlformats.org/drawingml/2006/main">
              <a:ext uri="{FF2B5EF4-FFF2-40B4-BE49-F238E27FC236}">
                <a16:creationId xmlns:a16="http://schemas.microsoft.com/office/drawing/2014/main" id="{6D72E5E3-7B66-4D29-8C74-161CEB31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ATTESTFLOW  ·  BUIDL CTC 2026 FALL                                      07</a:t>
            </a:r>
          </a:p>
        </p:txBody>
      </p:sp>
    </p:spTree>
    <p:extLst>
      <p:ext uri="{BB962C8B-B14F-4D97-AF65-F5344CB8AC3E}">
        <p14:creationId xmlns:p14="http://schemas.microsoft.com/office/powerpoint/2010/main" val="7996468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Independent verification">
            <a:extLst xmlns:a="http://schemas.openxmlformats.org/drawingml/2006/main">
              <a:ext uri="{FF2B5EF4-FFF2-40B4-BE49-F238E27FC236}">
                <a16:creationId xmlns:a16="http://schemas.microsoft.com/office/drawing/2014/main" id="{4E95358F-59B7-4633-967D-AE880A47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INDEPENDENT VERIFICATION</a:t>
            </a:r>
          </a:p>
        </p:txBody>
      </p:sp>
      <p:sp>
        <p:nvSpPr>
          <p:cNvPr id="2" name="title-A judge can reproduce the verdict with one command">
            <a:extLst xmlns:a="http://schemas.openxmlformats.org/drawingml/2006/main">
              <a:ext uri="{FF2B5EF4-FFF2-40B4-BE49-F238E27FC236}">
                <a16:creationId xmlns:a16="http://schemas.microsoft.com/office/drawing/2014/main" id="{FC7BB63E-01EF-4315-B616-11A624A3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A judge can reproduce the verdict with one command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DFEF1EAA-1B09-42DD-9D39-2D272ED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81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62</a:t>
            </a:r>
          </a:p>
        </p:txBody>
      </p:sp>
      <p:sp>
        <p:nvSpPr>
          <p:cNvPr id="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1DF808A5-5B72-4234-ADCE-9DE9402B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live cross-chain checks</a:t>
            </a:r>
          </a:p>
        </p:txBody>
      </p:sp>
      <p:sp>
        <p:nvSpPr>
          <p:cNvPr id="5" name="metric-1">
            <a:extLst xmlns:a="http://schemas.openxmlformats.org/drawingml/2006/main">
              <a:ext uri="{FF2B5EF4-FFF2-40B4-BE49-F238E27FC236}">
                <a16:creationId xmlns:a16="http://schemas.microsoft.com/office/drawing/2014/main" id="{4D24508F-972B-42C9-A0EF-AD8FA83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81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A39D7921-33DF-463D-B72B-B8AA5317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automated tests</a:t>
            </a:r>
          </a:p>
        </p:txBody>
      </p:sp>
      <p:sp>
        <p:nvSpPr>
          <p:cNvPr id="7" name="metric-2">
            <a:extLst xmlns:a="http://schemas.openxmlformats.org/drawingml/2006/main">
              <a:ext uri="{FF2B5EF4-FFF2-40B4-BE49-F238E27FC236}">
                <a16:creationId xmlns:a16="http://schemas.microsoft.com/office/drawing/2014/main" id="{D75F87CC-6B11-4215-ACA4-32A4852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81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87A58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29DDE529-7959-4E17-B599-5B67A1C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110E"/>
                </a:solidFill>
                <a:latin typeface="Helvetica Neue"/>
                <a:ea typeface="Helvetica Neue"/>
                <a:cs typeface="Helvetica Neue"/>
              </a:rPr>
              <a:t>production vulnerabilities</a:t>
            </a:r>
          </a:p>
        </p:txBody>
      </p:sp>
      <p:sp>
        <p:nvSpPr>
          <p:cNvPr id="9" name="verifier-scope">
            <a:extLst xmlns:a="http://schemas.openxmlformats.org/drawingml/2006/main">
              <a:ext uri="{FF2B5EF4-FFF2-40B4-BE49-F238E27FC236}">
                <a16:creationId xmlns:a16="http://schemas.microsoft.com/office/drawing/2014/main" id="{7A8E487F-81A1-4F3D-9009-76FAD7C9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7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Network identity · deployment provenance · source status · policy fields · settlement events · both replay guards · payload equality · deployed bytecode equality</a:t>
            </a:r>
          </a:p>
        </p:txBody>
      </p:sp>
      <p:sp>
        <p:nvSpPr>
          <p:cNvPr id="10" name="terminal-panel">
            <a:extLst xmlns:a="http://schemas.openxmlformats.org/drawingml/2006/main">
              <a:ext uri="{FF2B5EF4-FFF2-40B4-BE49-F238E27FC236}">
                <a16:creationId xmlns:a16="http://schemas.microsoft.com/office/drawing/2014/main" id="{B5758191-1BA7-4E50-BE7F-1C778896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19250"/>
            <a:ext cx="76581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7100D"/>
          </a:solidFill>
          <a:ln xmlns:a="http://schemas.openxmlformats.org/drawingml/2006/main" w="9525">
            <a:solidFill>
              <a:srgbClr val="224A3B"/>
            </a:solidFill>
            <a:prstDash val="solid"/>
          </a:ln>
        </p:spPr>
      </p:sp>
      <p:sp>
        <p:nvSpPr>
          <p:cNvPr id="11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FDD13746-151B-4230-BE3E-315002EE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478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CDB3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8BCDB3"/>
                </a:solidFill>
                <a:latin typeface="Menlo"/>
                <a:ea typeface="Menlo"/>
                <a:cs typeface="Menlo"/>
              </a:rPr>
              <a:t>attestflow — public-chain verification</a:t>
            </a:r>
          </a:p>
        </p:txBody>
      </p:sp>
      <p:sp>
        <p:nvSpPr>
          <p:cNvPr id="12" name="rule-412-232">
            <a:extLst xmlns:a="http://schemas.openxmlformats.org/drawingml/2006/main">
              <a:ext uri="{FF2B5EF4-FFF2-40B4-BE49-F238E27FC236}">
                <a16:creationId xmlns:a16="http://schemas.microsoft.com/office/drawing/2014/main" id="{FCB94C59-5981-433A-9487-7BABD824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0980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rminal-output">
            <a:extLst xmlns:a="http://schemas.openxmlformats.org/drawingml/2006/main">
              <a:ext uri="{FF2B5EF4-FFF2-40B4-BE49-F238E27FC236}">
                <a16:creationId xmlns:a16="http://schemas.microsoft.com/office/drawing/2014/main" id="{F11F2EC8-E831-4AFA-A9FE-8FF60F25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676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$ npm run verify:evidence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  "status": "SUCCESS",</a:t>
            </a:r>
          </a:p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  "source": "0x6ac68b…55e7",</a:t>
            </a:r>
          </a:p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  "settlement": "0xec29d5…e4c2",</a:t>
            </a:r>
          </a:p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  "delivery": "0xc692a1…47fb",</a:t>
            </a:r>
          </a:p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  "sourceTxId": "0x780a2c…fd1a",</a:t>
            </a:r>
          </a:p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  "payloadHash": "0x4845f5…3faa",</a:t>
            </a:r>
          </a:p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  "checks": 62</a:t>
            </a:r>
          </a:p>
          <a:p xmlns:a="http://schemas.openxmlformats.org/drawingml/2006/main">
            <a:pPr algn="l">
              <a:defRPr sz="1500" b="0">
                <a:solidFill>
                  <a:srgbClr val="D9F2E8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D9F2E8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rule-64-666">
            <a:extLst xmlns:a="http://schemas.openxmlformats.org/drawingml/2006/main">
              <a:ext uri="{FF2B5EF4-FFF2-40B4-BE49-F238E27FC236}">
                <a16:creationId xmlns:a16="http://schemas.microsoft.com/office/drawing/2014/main" id="{2406F5AD-DD44-43C9-B9E7-B9045D8D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8">
            <a:extLst xmlns:a="http://schemas.openxmlformats.org/drawingml/2006/main">
              <a:ext uri="{FF2B5EF4-FFF2-40B4-BE49-F238E27FC236}">
                <a16:creationId xmlns:a16="http://schemas.microsoft.com/office/drawing/2014/main" id="{EF10C8E4-CD87-4304-966C-1EFEECD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863"/>
                </a:solidFill>
                <a:latin typeface="Helvetica Neue"/>
                <a:ea typeface="Helvetica Neue"/>
                <a:cs typeface="Helvetica Neue"/>
              </a:rPr>
              <a:t>ATTESTFLOW  ·  BUIDL CTC 2026 FALL                                      08</a:t>
            </a:r>
          </a:p>
        </p:txBody>
      </p:sp>
    </p:spTree>
    <p:extLst>
      <p:ext uri="{BB962C8B-B14F-4D97-AF65-F5344CB8AC3E}">
        <p14:creationId xmlns:p14="http://schemas.microsoft.com/office/powerpoint/2010/main" val="1157246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4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CFC021FB-558C-4929-A8F0-F2EF75D8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E0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E0BB"/>
                </a:solidFill>
                <a:latin typeface="Helvetica Neue"/>
                <a:ea typeface="Helvetica Neue"/>
                <a:cs typeface="Helvetica Neue"/>
              </a:rPr>
              <a:t>THE CEIP PATH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339662C-739C-40C8-ABEE-4A7F1C40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Built for CEIP—not a one-off demo</a:t>
            </a:r>
          </a:p>
        </p:txBody>
      </p:sp>
      <p:sp>
        <p:nvSpPr>
          <p:cNvPr id="3" name="close-thesis">
            <a:extLst xmlns:a="http://schemas.openxmlformats.org/drawingml/2006/main">
              <a:ext uri="{FF2B5EF4-FFF2-40B4-BE49-F238E27FC236}">
                <a16:creationId xmlns:a16="http://schemas.microsoft.com/office/drawing/2014/main" id="{7F48EBB0-A6A7-4F5E-B099-2886B521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F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FE6"/>
                </a:solidFill>
                <a:latin typeface="Helvetica Neue"/>
                <a:ea typeface="Helvetica Neue"/>
                <a:cs typeface="Helvetica Neue"/>
              </a:rPr>
              <a:t>Freelancer escrow is the wedge. The product is a reusable proof-gated payment engine for invoices, marketplaces, treasuries and agent-to-agent commerce.</a:t>
            </a:r>
          </a:p>
        </p:txBody>
      </p:sp>
      <p:sp>
        <p:nvSpPr>
          <p:cNvPr id="4" name="roadmap-stage-0">
            <a:extLst xmlns:a="http://schemas.openxmlformats.org/drawingml/2006/main">
              <a:ext uri="{FF2B5EF4-FFF2-40B4-BE49-F238E27FC236}">
                <a16:creationId xmlns:a16="http://schemas.microsoft.com/office/drawing/2014/main" id="{CDC30A35-2118-4ABD-9BA4-0BA4CD13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3E0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3E0BB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5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80FEFEFA-C786-4F2F-A200-AB0DFEC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Deployed testnet loop</a:t>
            </a:r>
          </a:p>
        </p:txBody>
      </p:sp>
      <p:sp>
        <p:nvSpPr>
          <p:cNvPr id="6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EFF5164F-8805-4B07-A82F-E6BEABF9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5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9D5CA"/>
                </a:solidFill>
                <a:latin typeface="Helvetica Neue"/>
                <a:ea typeface="Helvetica Neue"/>
                <a:cs typeface="Helvetica Neue"/>
              </a:rPr>
              <a:t>Sepolia → Attestcoin → CC3 settlement → Sepolia return</a:t>
            </a:r>
          </a:p>
        </p:txBody>
      </p:sp>
      <p:sp>
        <p:nvSpPr>
          <p:cNvPr id="7" name="roadmap-stage-1">
            <a:extLst xmlns:a="http://schemas.openxmlformats.org/drawingml/2006/main">
              <a:ext uri="{FF2B5EF4-FFF2-40B4-BE49-F238E27FC236}">
                <a16:creationId xmlns:a16="http://schemas.microsoft.com/office/drawing/2014/main" id="{3DC83D5B-853B-4E06-9E06-2CEB6362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3E0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3E0BB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8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D5697A2D-AA57-4604-BFAA-8107A480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5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Quorum-backed Writability</a:t>
            </a:r>
          </a:p>
        </p:txBody>
      </p:sp>
      <p:sp>
        <p:nvSpPr>
          <p:cNvPr id="9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24A415E5-C4C7-4CB9-A0C3-941AFBEA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338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5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9D5CA"/>
                </a:solidFill>
                <a:latin typeface="Helvetica Neue"/>
                <a:ea typeface="Helvetica Neue"/>
                <a:cs typeface="Helvetica Neue"/>
              </a:rPr>
              <a:t>Swap the adapter for official Outbox/Inbox when available</a:t>
            </a:r>
          </a:p>
        </p:txBody>
      </p:sp>
      <p:sp>
        <p:nvSpPr>
          <p:cNvPr id="10" name="roadmap-stage-2">
            <a:extLst xmlns:a="http://schemas.openxmlformats.org/drawingml/2006/main">
              <a:ext uri="{FF2B5EF4-FFF2-40B4-BE49-F238E27FC236}">
                <a16:creationId xmlns:a16="http://schemas.microsoft.com/office/drawing/2014/main" id="{EEB1CA83-AF23-460A-AA11-737BBF97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3E0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3E0BB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11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6B2BFB63-22AF-4637-B0B7-4C80745B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Payment policy infrastructure</a:t>
            </a:r>
          </a:p>
        </p:txBody>
      </p:sp>
      <p:sp>
        <p:nvSpPr>
          <p:cNvPr id="12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34FCC8A3-5085-4A26-84CD-D28C29B5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338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5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9D5CA"/>
                </a:solidFill>
                <a:latin typeface="Helvetica Neue"/>
                <a:ea typeface="Helvetica Neue"/>
                <a:cs typeface="Helvetica Neue"/>
              </a:rPr>
              <a:t>Multi-chain assets, invoice workflows and agent commerce</a:t>
            </a:r>
          </a:p>
        </p:txBody>
      </p:sp>
      <p:sp>
        <p:nvSpPr>
          <p:cNvPr id="13" name="rule-64-554">
            <a:extLst xmlns:a="http://schemas.openxmlformats.org/drawingml/2006/main">
              <a:ext uri="{FF2B5EF4-FFF2-40B4-BE49-F238E27FC236}">
                <a16:creationId xmlns:a16="http://schemas.microsoft.com/office/drawing/2014/main" id="{CEB37D77-EEC2-42BB-99C9-8EC51716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ose-line">
            <a:extLst xmlns:a="http://schemas.openxmlformats.org/drawingml/2006/main">
              <a:ext uri="{FF2B5EF4-FFF2-40B4-BE49-F238E27FC236}">
                <a16:creationId xmlns:a16="http://schemas.microsoft.com/office/drawing/2014/main" id="{06EF4F85-5FBC-46E8-B767-8CE78976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Natural language for intent. Attestcoin for truth. Deterministic contracts for money.</a:t>
            </a:r>
          </a:p>
        </p:txBody>
      </p:sp>
      <p:sp>
        <p:nvSpPr>
          <p:cNvPr id="15" name="repo-url">
            <a:extLst xmlns:a="http://schemas.openxmlformats.org/drawingml/2006/main">
              <a:ext uri="{FF2B5EF4-FFF2-40B4-BE49-F238E27FC236}">
                <a16:creationId xmlns:a16="http://schemas.microsoft.com/office/drawing/2014/main" id="{CBB1223A-35D3-4487-B687-EFAD54F3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3E0B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83E0BB"/>
                </a:solidFill>
                <a:latin typeface="Menlo"/>
                <a:ea typeface="Menlo"/>
                <a:cs typeface="Menlo"/>
              </a:rPr>
              <a:t>github.com/ximilu0114-droid/ximilu-hackson</a:t>
            </a:r>
          </a:p>
        </p:txBody>
      </p:sp>
      <p:sp>
        <p:nvSpPr>
          <p:cNvPr id="16" name="rule-64-666">
            <a:extLst xmlns:a="http://schemas.openxmlformats.org/drawingml/2006/main">
              <a:ext uri="{FF2B5EF4-FFF2-40B4-BE49-F238E27FC236}">
                <a16:creationId xmlns:a16="http://schemas.microsoft.com/office/drawing/2014/main" id="{17B05857-9AE1-4977-8513-57AEE1E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9">
            <a:extLst xmlns:a="http://schemas.openxmlformats.org/drawingml/2006/main">
              <a:ext uri="{FF2B5EF4-FFF2-40B4-BE49-F238E27FC236}">
                <a16:creationId xmlns:a16="http://schemas.microsoft.com/office/drawing/2014/main" id="{29BAA5D6-88DB-44E8-A785-00E4DE8B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D5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9D5CA"/>
                </a:solidFill>
                <a:latin typeface="Helvetica Neue"/>
                <a:ea typeface="Helvetica Neue"/>
                <a:cs typeface="Helvetica Neue"/>
              </a:rPr>
              <a:t>ATTESTFLOW  ·  BUIDL CTC 2026 FALL                                      09</a:t>
            </a:r>
          </a:p>
        </p:txBody>
      </p:sp>
    </p:spTree>
    <p:extLst>
      <p:ext uri="{BB962C8B-B14F-4D97-AF65-F5344CB8AC3E}">
        <p14:creationId xmlns:p14="http://schemas.microsoft.com/office/powerpoint/2010/main" val="1679749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2026-09-01T02:22:31.9350000Z</dcterms:created>
  <dcterms:modified xsi:type="dcterms:W3CDTF">2026-09-01T02:22:31.9350000Z</dcterms:modified>
</coreProperties>
</file>